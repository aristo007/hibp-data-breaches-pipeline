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  <c:pt idx="19">
                  <c:v>2026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19</c:v>
                </c:pt>
                <c:pt idx="5">
                  <c:v>20</c:v>
                </c:pt>
                <c:pt idx="6">
                  <c:v>31</c:v>
                </c:pt>
                <c:pt idx="7">
                  <c:v>49</c:v>
                </c:pt>
                <c:pt idx="8">
                  <c:v>76</c:v>
                </c:pt>
                <c:pt idx="9">
                  <c:v>104</c:v>
                </c:pt>
                <c:pt idx="10">
                  <c:v>54</c:v>
                </c:pt>
                <c:pt idx="11">
                  <c:v>78</c:v>
                </c:pt>
                <c:pt idx="12">
                  <c:v>82</c:v>
                </c:pt>
                <c:pt idx="13">
                  <c:v>98</c:v>
                </c:pt>
                <c:pt idx="14">
                  <c:v>78</c:v>
                </c:pt>
                <c:pt idx="15">
                  <c:v>61</c:v>
                </c:pt>
                <c:pt idx="16">
                  <c:v>46</c:v>
                </c:pt>
                <c:pt idx="17">
                  <c:v>85</c:v>
                </c:pt>
                <c:pt idx="18">
                  <c:v>60</c:v>
                </c:pt>
                <c:pt idx="19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1D-49E9-82D1-C61A89F5D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Millions de comptes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4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Marketing / Email</c:v>
                </c:pt>
                <c:pt idx="1">
                  <c:v>Réseaux sociaux</c:v>
                </c:pt>
                <c:pt idx="2">
                  <c:v>Divertissement</c:v>
                </c:pt>
                <c:pt idx="3">
                  <c:v>Services email/Tech</c:v>
                </c:pt>
                <c:pt idx="4">
                  <c:v>Marché noir</c:v>
                </c:pt>
                <c:pt idx="5">
                  <c:v>Jeux vidéo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1156.5</c:v>
                </c:pt>
                <c:pt idx="1">
                  <c:v>1087.2</c:v>
                </c:pt>
                <c:pt idx="2">
                  <c:v>268.8</c:v>
                </c:pt>
                <c:pt idx="3">
                  <c:v>234.8</c:v>
                </c:pt>
                <c:pt idx="4">
                  <c:v>226.9</c:v>
                </c:pt>
                <c:pt idx="5">
                  <c:v>172.9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A-4440-9226-407E57C9E4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29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EE7C-376A-1756-59D1-D7D256AD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F3C76-233B-08BA-52C6-1A9404AFD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E4514-A57C-367F-9EE2-4D579844C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5BE2-393A-E59F-C18A-DBA6C843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6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2980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33272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82980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33272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GROUPE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d'analyse des fuites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données (HIBP)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l'API publique Have I Been Pwned à un dashboard interactif : ingestion, orchestration Airflow, stockage cloud S3 et visualisation Power BI.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analysés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 Mds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compromis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2007–2026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pédagogique — Récapitulatif de la démarche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consiste à construire, de bout en bout, un pipeline de données automatisé qui interroge l'API publique Have I Been Pwned (HIBP), analyse les tendances des fuites de données, et restitue le résultat dans un dashboard interactif.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une API REST publique en Python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 code en fonctions réutilisables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 un pipeline avec Apache Airflow (Docker)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des données dans le cloud (AWS S3)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des données avec Power BI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et documenter un projet sur GitHub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Automatiser la collecte de données de sécurité publiques pour transformer 1 020 fuites brutes en informations exploitables. 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20840" y="3977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720840" y="3977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HIBP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44348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4434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48920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720840" y="4892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53492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20840" y="5349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58064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20840" y="5806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HIBP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public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/v3/breaches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15768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15768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7208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Python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07208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json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modulaire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0288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82896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82896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74336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(Docker)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74336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à 3 tâches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57416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50024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050024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41464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41464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4544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17152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217152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08592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08592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lire ce schéma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flèche représente un passage de données : l'ingestion télécharge le JSON brut, Airflow orchestre la transformation en CSV, S3 stocke les fichiers de façon organisée par date, et Power BI se connecte aux CSV pour les visualiser.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SEMAINE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les données avant de coder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d'écrire une seule ligne de script, la première étape consiste à explorer manuellement l'endpoint public de l'API pour comprendre la structure d'une fiche de fuite de données.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https://haveibeenpwned.com/api/v3/breaches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public, gratuit, sans clé API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« secteur d'activité » n'existe pas → il faut le déduire manuellement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breaches n'ont aucun domaine (compilations de données volées)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est une liste → prévoir une table de liaison pour Power BI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: une « fiche » de fuite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000webhost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807208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46520" y="28072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80720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000webhost.com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465576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46520" y="34655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346557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2015-03-01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123944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46520" y="412394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PwnCount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412394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14 936 670 comptes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782312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46520" y="47823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DataClasses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47823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IP, Noms, Mots de passe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544068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IsVerified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54406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SEMAINE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script d'ingestion structuré en fonctions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qu'un script monolithique, le code est organisé en fonctions à responsabilité unique — une pratique clé pour la lisibilité et l'évaluation du projet.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323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18872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telecharger_breaches()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 l'API et récupère la liste complète des 1 020 breaches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0799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0799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498348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analyse_plus_gros()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4456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 breach avec le plus grand nombre de comptes touchés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0275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30275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877824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analyse_par_annee()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3932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 nombre de fuites par année (Counter sur BreachDate)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323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323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18872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analyse_dataclasses()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les types de données volées, du plus au moins fréquent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0799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0799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498348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classer_secteur()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4456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Déduit un secteur d'activité à partir du nom de domaine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30275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30275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33" name="Text 31"/>
          <p:cNvSpPr/>
          <p:nvPr/>
        </p:nvSpPr>
        <p:spPr>
          <a:xfrm>
            <a:off x="877824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exporter_csv()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3932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les fichiers CSV prêts pour Power BI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analyses clés sur 1 020 fuites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1,96 Mds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dans le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gros breach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3756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 Mds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cumulés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(toutes fuites)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breaches exposent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1540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breaches exposent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du nombre de fuites par année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429000"/>
          <a:ext cx="7680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8458200" y="342900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86868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0" y="3977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en 2016 (104 fuites), puis alternance de hausses et de baisses. 2026 n'est pas une année complète : à comparer avec prudence.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86800" y="5257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total cumulé &gt; population mondiale ne signifie pas 17 Mds de personnes uniques : une même personne peut apparaître dans plusieurs fuites.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SEMAINE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avec Apache Airflow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tourne dans des conteneurs Docker et exécute automatiquement un DAG (Directed Acyclic Graph) : un fichier Python qui décrit un enchaînement de tâches.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23444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92024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les breaches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l'API HIBP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834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566928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les fichiers CSV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(breaches + dataclasses)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732520" y="25603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732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941832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CSV vers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(ou simulation)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du pipeline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automatiques (2 tentatives) si l'API HIBP est temporairement indisponible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d'exécution pour éviter qu'une tâche reste bloquée indéfiniment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automatique simulation ↔ envoi réel S3 selon les identifiants disponibles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STOCKAGE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S3 : organiser les données dans le temps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CSV générés par Airflow sont envoyés vers un bucket S3, organisés par date d'ingestion — une structure qui prépare l'historisation des données.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AWS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par carte bancaire, plan Basic Support gratuit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3558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bucket 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unique, accès public bloqué par défaut (sécurité)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224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utilisateur IAM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à S3 uniquement — jamais les identifiants racine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clés d'accès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 + Secret Key, stockées dans un .env non commité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486400" cy="4617720"/>
          </a:xfrm>
          <a:prstGeom prst="roundRect">
            <a:avLst>
              <a:gd name="adj" fmla="val 198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Réflexe sécurité essentiel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AWS ne doivent JAMAIS être publiées sur GitHub, même dans un dépôt privé.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dans le .gitignore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4472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34472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vide comme modèle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40142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git log avant tout push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5811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458114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un fichier accessKeys.csv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1480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51480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une clé secrète sur un canal public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appliquée : une fuite de clé a été repérée et corrigée avant le commit final.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— VISUALISATION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dashboard Power BI interactif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CSV « bruts mais propres » sont importés dans Power BI, avec une table de liaison pour permettre le filtrage par type de donnée volée.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export_breaches.csv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Domain • Secteur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• PwnCount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17720" y="2212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export_dataclasses.csv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54203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DataClass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 *:1 sur Name)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2514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compromis par secteur classé (millions)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4023360"/>
          <a:ext cx="7223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001000" y="37033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2296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livrées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251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Fuites par année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par secteur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données volées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plus gros breaches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interactif (slicer)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—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Versionner et documenter avec Git &amp;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propre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puis commits réguliers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commit explicites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push après chaque étape clé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0" y="18105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soigné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volumineuses exclues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(.env, clés AWS) exclus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ciblées pour les CSV utiles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6676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667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complet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et schéma d'architecture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en tableau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d'installation reproductibles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52303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2336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12280" y="52303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13232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à automatiser après chaque avancée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connues des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travail d'analyse ne cache pas les limites de ses données : il les identifie et les explique. Trois points à garder pour la soutenance 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77240" y="239572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≠ personnes uniques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17,7 milliards de comptes compromis cumulés ne signifient pas 17,7 milliards de personnes : une même personne peut apparaître dans plusieurs fuites.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46520" y="239572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995160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Secteur non fourni par l'API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« secteur d'activité » n'existe pas dans HIBP ; il est déduit manuellement, donc partiel (beaucoup de « Non classé »).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7240" y="454456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325880" y="4526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Compilations non attribuables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gros volumes (Collection1, ExploitIn...) sont des compilations d'identifiants volés, sans site unique à classer.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46520" y="454456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4652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995160" y="4526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Année en cours incomplète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50292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ne couvre que quelques mois : une comparaison brute avec les années précédentes serait trompeuse.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attendus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un par 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public avec README,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d'architecture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docker-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</a:t>
            </a: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d'ingestion, commentés et structurés en fonctions</a:t>
            </a: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</a:t>
            </a:r>
            <a:r>
              <a:rPr lang="fr-FR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fonctionnel avec 3 tâches (ingestion, transformation, chargement)</a:t>
            </a: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S3 avec données organisées par date d'ingestion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avec 5 visualisations et un filtre interactif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orale avec démonstration du DAG en fonctionnement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endParaRPr lang="fr-FR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1BAFD-68B9-BF93-B544-C21ED4F1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CE1797-C145-B9A5-953E-6C2D95C11BA5}"/>
              </a:ext>
            </a:extLst>
          </p:cNvPr>
          <p:cNvSpPr/>
          <p:nvPr/>
        </p:nvSpPr>
        <p:spPr>
          <a:xfrm>
            <a:off x="932688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5EAD8C-B003-52D6-449C-B28AACFED01A}"/>
              </a:ext>
            </a:extLst>
          </p:cNvPr>
          <p:cNvSpPr/>
          <p:nvPr/>
        </p:nvSpPr>
        <p:spPr>
          <a:xfrm>
            <a:off x="982980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81FF5C-7A15-AF4A-7657-2D98BE8F40F4}"/>
              </a:ext>
            </a:extLst>
          </p:cNvPr>
          <p:cNvSpPr/>
          <p:nvPr/>
        </p:nvSpPr>
        <p:spPr>
          <a:xfrm>
            <a:off x="1033272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FF40BC-0EB5-44C4-67EB-3489A613CE17}"/>
              </a:ext>
            </a:extLst>
          </p:cNvPr>
          <p:cNvSpPr/>
          <p:nvPr/>
        </p:nvSpPr>
        <p:spPr>
          <a:xfrm>
            <a:off x="932688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89A2FA0-6B96-E855-EAD9-6F6ADC91E64F}"/>
              </a:ext>
            </a:extLst>
          </p:cNvPr>
          <p:cNvSpPr/>
          <p:nvPr/>
        </p:nvSpPr>
        <p:spPr>
          <a:xfrm>
            <a:off x="982980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F3C547-7C0E-292D-DCAF-D93DD6E3BC7D}"/>
              </a:ext>
            </a:extLst>
          </p:cNvPr>
          <p:cNvSpPr/>
          <p:nvPr/>
        </p:nvSpPr>
        <p:spPr>
          <a:xfrm>
            <a:off x="1033272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855AD3-198F-7CAA-4ACD-5A1735728455}"/>
              </a:ext>
            </a:extLst>
          </p:cNvPr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F3B70D-D3B1-6B47-FA8A-1A243F343A22}"/>
              </a:ext>
            </a:extLst>
          </p:cNvPr>
          <p:cNvSpPr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complet,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fr-FR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 et documenté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5A66CD-792F-C083-33B7-C546811AFF20}"/>
              </a:ext>
            </a:extLst>
          </p:cNvPr>
          <p:cNvSpPr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l'ingestion API jusqu'au </a:t>
            </a:r>
            <a:r>
              <a:rPr lang="fr-FR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fr-FR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interactif, en passant par une orchestration robuste et un stockage cloud structuré — avec une vraie réflexion sur les limites des données traitées.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C8ABA9-BB92-631A-B911-0D2DD9AD80C7}"/>
              </a:ext>
            </a:extLst>
          </p:cNvPr>
          <p:cNvSpPr/>
          <p:nvPr/>
        </p:nvSpPr>
        <p:spPr>
          <a:xfrm>
            <a:off x="822959" y="5257800"/>
            <a:ext cx="7602583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, des questions ?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8A4663-B792-B6D1-A931-F322757448C1}"/>
              </a:ext>
            </a:extLst>
          </p:cNvPr>
          <p:cNvSpPr/>
          <p:nvPr/>
        </p:nvSpPr>
        <p:spPr>
          <a:xfrm>
            <a:off x="384048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D2D6EA-BCB4-CAA2-B14B-2D3E682DEC09}"/>
              </a:ext>
            </a:extLst>
          </p:cNvPr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pédagogique — Récapitulatif de la démarche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992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1398</Words>
  <Application>Microsoft Office PowerPoint</Application>
  <PresentationFormat>Grand écran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2026-08-08T14:40:27Z</dcterms:created>
  <dcterms:modified xsi:type="dcterms:W3CDTF">2026-08-08T20:40:46Z</dcterms:modified>
</cp:coreProperties>
</file>