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Breaches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Sheet1!$A$2:$A$21</c:f>
              <c:strCache>
                <c:ptCount val="20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  <c:pt idx="6">
                  <c:v>2013</c:v>
                </c:pt>
                <c:pt idx="7">
                  <c:v>2014</c:v>
                </c:pt>
                <c:pt idx="8">
                  <c:v>2015</c:v>
                </c:pt>
                <c:pt idx="9">
                  <c:v>2016</c:v>
                </c:pt>
                <c:pt idx="10">
                  <c:v>2017</c:v>
                </c:pt>
                <c:pt idx="11">
                  <c:v>2018</c:v>
                </c:pt>
                <c:pt idx="12">
                  <c:v>2019</c:v>
                </c:pt>
                <c:pt idx="13">
                  <c:v>2020</c:v>
                </c:pt>
                <c:pt idx="14">
                  <c:v>2021</c:v>
                </c:pt>
                <c:pt idx="15">
                  <c:v>2022</c:v>
                </c:pt>
                <c:pt idx="16">
                  <c:v>2023</c:v>
                </c:pt>
                <c:pt idx="17">
                  <c:v>2024</c:v>
                </c:pt>
                <c:pt idx="18">
                  <c:v>2025</c:v>
                </c:pt>
                <c:pt idx="19">
                  <c:v>2026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19</c:v>
                </c:pt>
                <c:pt idx="5">
                  <c:v>20</c:v>
                </c:pt>
                <c:pt idx="6">
                  <c:v>31</c:v>
                </c:pt>
                <c:pt idx="7">
                  <c:v>49</c:v>
                </c:pt>
                <c:pt idx="8">
                  <c:v>76</c:v>
                </c:pt>
                <c:pt idx="9">
                  <c:v>104</c:v>
                </c:pt>
                <c:pt idx="10">
                  <c:v>54</c:v>
                </c:pt>
                <c:pt idx="11">
                  <c:v>78</c:v>
                </c:pt>
                <c:pt idx="12">
                  <c:v>82</c:v>
                </c:pt>
                <c:pt idx="13">
                  <c:v>98</c:v>
                </c:pt>
                <c:pt idx="14">
                  <c:v>78</c:v>
                </c:pt>
                <c:pt idx="15">
                  <c:v>61</c:v>
                </c:pt>
                <c:pt idx="16">
                  <c:v>46</c:v>
                </c:pt>
                <c:pt idx="17">
                  <c:v>85</c:v>
                </c:pt>
                <c:pt idx="18">
                  <c:v>60</c:v>
                </c:pt>
                <c:pt idx="19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1D-49E9-82D1-C61A89F5DD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Millions de comptes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41B4D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Marketing / Email</c:v>
                </c:pt>
                <c:pt idx="1">
                  <c:v>Réseaux sociaux</c:v>
                </c:pt>
                <c:pt idx="2">
                  <c:v>Divertissement</c:v>
                </c:pt>
                <c:pt idx="3">
                  <c:v>Services email/Tech</c:v>
                </c:pt>
                <c:pt idx="4">
                  <c:v>Marché noir</c:v>
                </c:pt>
                <c:pt idx="5">
                  <c:v>Jeux vidéo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1156.5</c:v>
                </c:pt>
                <c:pt idx="1">
                  <c:v>1087.2</c:v>
                </c:pt>
                <c:pt idx="2">
                  <c:v>268.8</c:v>
                </c:pt>
                <c:pt idx="3">
                  <c:v>234.8</c:v>
                </c:pt>
                <c:pt idx="4">
                  <c:v>226.9</c:v>
                </c:pt>
                <c:pt idx="5">
                  <c:v>172.9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9A-4440-9226-407E57C9E4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291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EE7C-376A-1756-59D1-D7D256ADE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DF3C76-233B-08BA-52C6-1A9404AFD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9E4514-A57C-367F-9EE2-4D579844C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85BE2-393A-E59F-C18A-DBA6C843C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662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82980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1033272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32688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982980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033272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GROUPE 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d'analyse des fuites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données (HIBP)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22960" y="39547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l'API publique Have I Been Pwned à un dashboard interactif : ingestion, orchestration Airflow, stockage cloud S3 et visualisation Power BI.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analysés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 Mds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840480" y="5897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compromis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2007–2026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858000" y="5897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59" y="6446520"/>
            <a:ext cx="106949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pédagogique — Récapitulatif de la </a:t>
            </a:r>
            <a:r>
              <a:rPr lang="en-US" sz="10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demarche                                            </a:t>
            </a:r>
            <a:r>
              <a:rPr lang="en-US" sz="1600" dirty="0" smtClean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TCHA-TCHESSI ARISTIDE | PLANTE </a:t>
            </a:r>
            <a:r>
              <a:rPr lang="en-US" sz="1600" dirty="0" err="1" smtClean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Essohanam</a:t>
            </a:r>
            <a:r>
              <a:rPr lang="en-US" sz="1600" dirty="0" smtClean="0">
                <a:solidFill>
                  <a:srgbClr val="92D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DJANGBIOGOU Mondo Joseph</a:t>
            </a:r>
            <a:endParaRPr lang="en-US" sz="1000" dirty="0">
              <a:solidFill>
                <a:srgbClr val="92D050"/>
              </a:solidFill>
            </a:endParaRPr>
          </a:p>
        </p:txBody>
      </p:sp>
      <p:pic>
        <p:nvPicPr>
          <p:cNvPr id="20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 projet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consiste à construire, de bout en bout, un pipeline de données automatisé qui interroge l'API publique Have I Been Pwned (HIBP), analyse les tendances des fuites de données, et restitue le résultat dans un dashboard interactif.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5486400" cy="2834640"/>
          </a:xfrm>
          <a:prstGeom prst="roundRect">
            <a:avLst>
              <a:gd name="adj" fmla="val 258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pédagogiques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4846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Consommer une API REST publique en Python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Structurer un code en fonctions réutilisables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 un pipeline avec Apache Airflow (Docker)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des données dans le cloud (AWS S3)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des données avec Power BI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Versionner et documenter un projet sur GitHub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67208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une phrase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21945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Automatiser la collecte de données de sécurité publiques pour transformer 1 020 fuites brutes en informations exploitables. »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720840" y="39776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720840" y="39776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HIBP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20840" y="44348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720840" y="44348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48920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720840" y="48920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53492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720840" y="53492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720840" y="580644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720840" y="580644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2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HIBP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public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/v3/breaches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15768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715768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07208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Python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07208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+ json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modulaire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90288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82896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82896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74336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(Docker)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74336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à 3 tâches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retries, timeout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57416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050024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7050024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41464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141464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cloud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924544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217152" y="2103120"/>
            <a:ext cx="187452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9217152" y="224028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308592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308592" y="33101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interactif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8229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lire ce schéma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49834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flèche représente un passage de données : l'ingestion télécharge le JSON brut, Airflow orchestre la transformation en CSV, S3 stocke les fichiers de façon organisée par date, et Power BI se connecte aux CSV pour les visualiser.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32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— SEMAINE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Comprendre les données avant de coder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d'écrire une seule ligne de script, la première étape consiste à explorer manuellement l'endpoint public de l'API pour comprendre la structure d'une fiche de fuite de données.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https://haveibeenpwned.com/api/v3/breaches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public, gratuit, sans clé API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5120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champ « secteur d'activité » n'existe pas → il faut le déduire manuellement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breaches n'ont aucun domaine (compilations de données volées)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DataClasses est une liste → prévoir une table de liaison pour Power BI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F4F6FB"/>
          </a:solidFill>
          <a:ln w="12700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: une « fiche » de fuite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46520" y="214884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09560" y="214884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000webhost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2807208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46520" y="280720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2807208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000webhost.com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3465576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46520" y="3465576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BreachDate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3465576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2015-03-01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4123944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446520" y="4123944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PwnCount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4123944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14 936 670 comptes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4782312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6446520" y="4782312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DataClasses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4782312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IP, Noms, Mots de passe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5440680"/>
            <a:ext cx="50292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2E6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446520" y="544068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IsVerified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544068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30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— SEMAINE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script d'ingestion structuré en fonctions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Plutôt qu'un script monolithique, le code est organisé en fonctions à responsabilité unique — une pratique clé pour la lisibilité et l'évaluation du projet.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13232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1323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8" name="Text 6"/>
          <p:cNvSpPr/>
          <p:nvPr/>
        </p:nvSpPr>
        <p:spPr>
          <a:xfrm>
            <a:off x="1188720" y="238658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telecharger_breaches()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" y="2898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 l'API et récupère la liste complète des 1 020 breaches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4507992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0799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3" name="Text 11"/>
          <p:cNvSpPr/>
          <p:nvPr/>
        </p:nvSpPr>
        <p:spPr>
          <a:xfrm>
            <a:off x="4983480" y="238658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analyse_plus_gros() 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44568" y="2898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 breach avec le plus grand nombre de comptes touchés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0" y="224028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8302752" y="24048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8302752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8" name="Text 16"/>
          <p:cNvSpPr/>
          <p:nvPr/>
        </p:nvSpPr>
        <p:spPr>
          <a:xfrm>
            <a:off x="8778240" y="238658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analyse_par_annee()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39328" y="289864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le nombre de fuites par année (Counter sur BreachDate)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13232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1323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23" name="Text 21"/>
          <p:cNvSpPr/>
          <p:nvPr/>
        </p:nvSpPr>
        <p:spPr>
          <a:xfrm>
            <a:off x="1188720" y="4032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analyse_dataclasses()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49808" y="45445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les types de données volées, du plus au moins fréquent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43400" y="3886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507992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0799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28" name="Text 26"/>
          <p:cNvSpPr/>
          <p:nvPr/>
        </p:nvSpPr>
        <p:spPr>
          <a:xfrm>
            <a:off x="4983480" y="4032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classer_secteur()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44568" y="45445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Déduit un secteur d'activité à partir du nom de domaine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38160" y="38862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302752" y="40507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8302752" y="4050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2" dirty="0"/>
          </a:p>
        </p:txBody>
      </p:sp>
      <p:sp>
        <p:nvSpPr>
          <p:cNvPr id="33" name="Text 31"/>
          <p:cNvSpPr/>
          <p:nvPr/>
        </p:nvSpPr>
        <p:spPr>
          <a:xfrm>
            <a:off x="8778240" y="4032504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exporter_csv()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39328" y="45445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les fichiers CSV prêts pour Power BI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3550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7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— RÉSULTATS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analyses clés sur 1 020 fuites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1,96 Mds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dans le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gros breach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3756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17,7 Mds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cumulés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(toutes fuites)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12648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6364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breaches exposent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50876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8915400" y="16002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66 %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52560" y="214884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breaches exposent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de passe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Évolution du nombre de fuites par année</a:t>
            </a:r>
            <a:endParaRPr lang="en-US" sz="14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429000"/>
          <a:ext cx="7680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8458200" y="3429000"/>
            <a:ext cx="3154680" cy="2926080"/>
          </a:xfrm>
          <a:prstGeom prst="roundRect">
            <a:avLst>
              <a:gd name="adj" fmla="val 2500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8686800" y="3611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0" y="39776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en 2016 (104 fuites), puis alternance de hausses et de baisses. 2026 n'est pas une année complète : à comparer avec prudence.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686800" y="52578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total cumulé &gt; population mondiale ne signifie pas 17 Mds de personnes uniques : une même personne peut apparaître dans plusieurs fuites.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23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— SEMAINE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avec Apache Airflow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tourne dans des conteneurs Docker et exécute automatiquement un DAG (Directed Acyclic Graph) : un fichier Python qui décrit un enchaînement de tâches.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00332" y="233172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23444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2344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920240" y="25877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 les breaches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l'API HIBP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754880" y="233172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498348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9834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5669280" y="25877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8348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les fichiers CSV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(breaches + dataclasses)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6384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503920" y="233172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blurRad="76200" dist="38100" dir="5400000" algn="bl" rotWithShape="0">
              <a:srgbClr val="1E2761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8732520" y="256032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87325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9418320" y="258775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32520" y="3200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CSV vers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(ou simulation)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82296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Robustesse du pipeline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automatiques (2 tentatives) si l'API HIBP est temporairement indisponible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d'exécution pour éviter qu'une tâche reste bloquée indéfiniment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automatique simulation ↔ envoi réel S3 selon les identifiants disponibles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pic>
        <p:nvPicPr>
          <p:cNvPr id="26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— STOCKAGE CLOUD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S3 : organiser les données dans le temps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fichiers CSV générés par Airflow sont envoyés vers un bucket S3, organisés par date d'ingestion — une structure qui prépare l'historisation des données.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AWS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par carte bancaire, plan Basic Support gratuit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1" name="Text 9"/>
          <p:cNvSpPr/>
          <p:nvPr/>
        </p:nvSpPr>
        <p:spPr>
          <a:xfrm>
            <a:off x="1097280" y="33558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bucket S3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657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unique, accès public bloqué par défaut (sécurité)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5" name="Text 13"/>
          <p:cNvSpPr/>
          <p:nvPr/>
        </p:nvSpPr>
        <p:spPr>
          <a:xfrm>
            <a:off x="1097280" y="42245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utilisateur IAM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4526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limité à S3 uniquement — jamais les identifiants racine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9" name="Text 17"/>
          <p:cNvSpPr/>
          <p:nvPr/>
        </p:nvSpPr>
        <p:spPr>
          <a:xfrm>
            <a:off x="1097280" y="50932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Générer des clés d'accès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53949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Key + Secret Key, stockées dans un .env non commité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5486400" cy="4617720"/>
          </a:xfrm>
          <a:prstGeom prst="roundRect">
            <a:avLst>
              <a:gd name="adj" fmla="val 1980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Réflexe sécurité essentiel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0" y="21031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clés AWS ne doivent JAMAIS être publiées sur GitHub, même dans un dépôt privé.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12280" y="288036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dans le .gitignore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34472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344728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.env.example vide comme modèle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01421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F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12280" y="4014216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git log avant tout push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458114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458114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Committer un fichier accessKeys.csv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800" y="514807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D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12280" y="514807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une clé secrète sur un canal public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56235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D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appliquée : une fuite de clé a été repérée et corrigée avant le commit final.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pic>
        <p:nvPicPr>
          <p:cNvPr id="36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— VISUALISATION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dashboard Power BI interactif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CSV « bruts mais propres » sont importés dans Power BI, avec une table de liaison pour permettre le filtrage par type de donnée volée.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export_breaches.csv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• Domain • Secteur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• PwnCount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617720" y="22128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export_dataclasses.csv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254203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• DataClass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(relation *:1 sur Name)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0" y="25146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Comptes compromis par secteur classé (millions)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4023360"/>
          <a:ext cx="72237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001000" y="3703320"/>
            <a:ext cx="3611880" cy="2788920"/>
          </a:xfrm>
          <a:prstGeom prst="roundRect">
            <a:avLst>
              <a:gd name="adj" fmla="val 2623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22960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 livrées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0" y="425196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Fuites par année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par secteur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de données volées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des plus gros breaches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interactif (slicer)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pic>
        <p:nvPicPr>
          <p:cNvPr id="18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— 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Versionner et documenter avec Git &amp; GitHub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7724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propre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puis commits réguliers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de commit explicites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push après chaque étape clé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572000" y="1810512"/>
            <a:ext cx="457200" cy="45720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.gitignore soigné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 volumineuses exclues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(.env, clés AWS) exclus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ciblées pour les CSV utiles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3017520"/>
          </a:xfrm>
          <a:prstGeom prst="roundRect">
            <a:avLst>
              <a:gd name="adj" fmla="val 242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8366760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836676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 complet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et schéma d'architecture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en tableau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d'installation reproductibles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41B4D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914400" y="5230368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5230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703320" y="523036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023360" y="5230368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023360" y="5230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12280" y="5230368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32320" y="5230368"/>
            <a:ext cx="2834640" cy="548640"/>
          </a:xfrm>
          <a:prstGeom prst="roundRect">
            <a:avLst>
              <a:gd name="adj" fmla="val 50000"/>
            </a:avLst>
          </a:prstGeom>
          <a:solidFill>
            <a:srgbClr val="2A357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132320" y="523036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5806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réflexe à automatiser après chaque avancée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0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CRITIQUE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connues des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bon travail d'analyse ne cache pas les limites de ses données : il les identifie et les explique. Trois points à garder pour la soutenance 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77240" y="239572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8" name="Text 6"/>
          <p:cNvSpPr/>
          <p:nvPr/>
        </p:nvSpPr>
        <p:spPr>
          <a:xfrm>
            <a:off x="1325880" y="23774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Comptes ≠ personnes uniques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17,7 milliards de comptes compromis cumulés ne signifient pas 17,7 milliards de personnes : une même personne peut apparaître dans plusieurs fuites.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446520" y="239572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44652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6995160" y="23774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Secteur non fourni par l'API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champ « secteur d'activité » n'existe pas dans HIBP ; il est déduit manuellement, donc partiel (beaucoup de « Non classé »).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77240" y="454456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1325880" y="4526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Compilations non attribuables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plus gros volumes (Collection1, ExploitIn...) sont des compilations d'identifiants volés, sans site unique à classer.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34340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6446520" y="4544568"/>
            <a:ext cx="365760" cy="36576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44652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6995160" y="452628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Année en cours incomplète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502920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ne couvre que quelques mois : une comparaison brute avec les années précédentes serait trompeuse.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6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attendus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un par un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B245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GitHub public avec README,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d'architecture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docker-</a:t>
            </a:r>
            <a:r>
              <a:rPr lang="en-US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compose.yaml</a:t>
            </a: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Python d'ingestion, commentés et structurés en fonctions</a:t>
            </a:r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</a:t>
            </a:r>
            <a:r>
              <a:rPr lang="fr-FR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fonctionnel avec 3 tâches (ingestion, transformation, chargement)</a:t>
            </a:r>
          </a:p>
          <a:p>
            <a:pPr marL="342900" indent="-342900">
              <a:spcAft>
                <a:spcPts val="1400"/>
              </a:spcAft>
              <a:buSzPct val="100000"/>
              <a:buChar char="✓"/>
            </a:pPr>
            <a:endParaRPr lang="en-US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6394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fr-FR" sz="13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</a:t>
            </a: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S3 avec données organisées par date d'ingestion</a:t>
            </a:r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avec 5 visualisations et un filtre interactif</a:t>
            </a:r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r>
              <a:rPr lang="fr-FR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orale avec démonstration du DAG en fonctionnement</a:t>
            </a:r>
          </a:p>
          <a:p>
            <a:pPr marL="342900" indent="-342900">
              <a:spcAft>
                <a:spcPts val="1400"/>
              </a:spcAft>
              <a:buSzPct val="100000"/>
              <a:buChar char="→"/>
            </a:pPr>
            <a:endParaRPr lang="fr-FR" sz="135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11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1BAFD-68B9-BF93-B544-C21ED4F1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CE1797-C145-B9A5-953E-6C2D95C11BA5}"/>
              </a:ext>
            </a:extLst>
          </p:cNvPr>
          <p:cNvSpPr/>
          <p:nvPr/>
        </p:nvSpPr>
        <p:spPr>
          <a:xfrm>
            <a:off x="932688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05EAD8C-B003-52D6-449C-B28AACFED01A}"/>
              </a:ext>
            </a:extLst>
          </p:cNvPr>
          <p:cNvSpPr/>
          <p:nvPr/>
        </p:nvSpPr>
        <p:spPr>
          <a:xfrm>
            <a:off x="982980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81FF5C-7A15-AF4A-7657-2D98BE8F40F4}"/>
              </a:ext>
            </a:extLst>
          </p:cNvPr>
          <p:cNvSpPr/>
          <p:nvPr/>
        </p:nvSpPr>
        <p:spPr>
          <a:xfrm>
            <a:off x="10332720" y="54864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FF40BC-0EB5-44C4-67EB-3489A613CE17}"/>
              </a:ext>
            </a:extLst>
          </p:cNvPr>
          <p:cNvSpPr/>
          <p:nvPr/>
        </p:nvSpPr>
        <p:spPr>
          <a:xfrm>
            <a:off x="932688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89A2FA0-6B96-E855-EAD9-6F6ADC91E64F}"/>
              </a:ext>
            </a:extLst>
          </p:cNvPr>
          <p:cNvSpPr/>
          <p:nvPr/>
        </p:nvSpPr>
        <p:spPr>
          <a:xfrm>
            <a:off x="982980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F3C547-7C0E-292D-DCAF-D93DD6E3BC7D}"/>
              </a:ext>
            </a:extLst>
          </p:cNvPr>
          <p:cNvSpPr/>
          <p:nvPr/>
        </p:nvSpPr>
        <p:spPr>
          <a:xfrm>
            <a:off x="10332720" y="1051560"/>
            <a:ext cx="109728" cy="109728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D855AD3-198F-7CAA-4ACD-5A1735728455}"/>
              </a:ext>
            </a:extLst>
          </p:cNvPr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7F3B70D-D3B1-6B47-FA8A-1A243F343A22}"/>
              </a:ext>
            </a:extLst>
          </p:cNvPr>
          <p:cNvSpPr/>
          <p:nvPr/>
        </p:nvSpPr>
        <p:spPr>
          <a:xfrm>
            <a:off x="822960" y="22402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fr-FR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complet,</a:t>
            </a:r>
          </a:p>
          <a:p>
            <a:pPr marL="0" indent="0">
              <a:lnSpc>
                <a:spcPct val="105000"/>
              </a:lnSpc>
              <a:buNone/>
            </a:pPr>
            <a:r>
              <a:rPr lang="fr-FR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 et documenté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F5A66CD-792F-C083-33B7-C546811AFF20}"/>
              </a:ext>
            </a:extLst>
          </p:cNvPr>
          <p:cNvSpPr/>
          <p:nvPr/>
        </p:nvSpPr>
        <p:spPr>
          <a:xfrm>
            <a:off x="822960" y="3977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l'ingestion API jusqu'au </a:t>
            </a:r>
            <a:r>
              <a:rPr lang="fr-FR" sz="15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r>
              <a:rPr lang="fr-FR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interactif, en passant par une orchestration robuste et un stockage cloud structuré — avec une vraie réflexion sur les limites des données traitées.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CC8ABA9-BB92-631A-B911-0D2DD9AD80C7}"/>
              </a:ext>
            </a:extLst>
          </p:cNvPr>
          <p:cNvSpPr/>
          <p:nvPr/>
        </p:nvSpPr>
        <p:spPr>
          <a:xfrm>
            <a:off x="822959" y="5257800"/>
            <a:ext cx="7602583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 , des questions ?</a:t>
            </a:r>
            <a:endParaRPr lang="en-US" sz="2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8A4663-B792-B6D1-A931-F322757448C1}"/>
              </a:ext>
            </a:extLst>
          </p:cNvPr>
          <p:cNvSpPr/>
          <p:nvPr/>
        </p:nvSpPr>
        <p:spPr>
          <a:xfrm>
            <a:off x="3840480" y="5394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4D2D6EA-BCB4-CAA2-B14B-2D3E682DEC09}"/>
              </a:ext>
            </a:extLst>
          </p:cNvPr>
          <p:cNvSpPr/>
          <p:nvPr/>
        </p:nvSpPr>
        <p:spPr>
          <a:xfrm>
            <a:off x="8229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pédagogique — Récapitulatif de la démarche</a:t>
            </a:r>
            <a:endParaRPr lang="en-US" sz="1000" dirty="0"/>
          </a:p>
        </p:txBody>
      </p:sp>
      <p:pic>
        <p:nvPicPr>
          <p:cNvPr id="14" name="Picture 4" descr="Universite Catholique d'Afrique de l'Ouest | Sencampus">
            <a:extLst>
              <a:ext uri="{FF2B5EF4-FFF2-40B4-BE49-F238E27FC236}">
                <a16:creationId xmlns:a16="http://schemas.microsoft.com/office/drawing/2014/main" id="{533B8DDB-D7E4-2708-D31E-0D89948A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0138" y="34114"/>
            <a:ext cx="1271862" cy="1106424"/>
          </a:xfrm>
          <a:prstGeom prst="roundRect">
            <a:avLst>
              <a:gd name="adj" fmla="val 8594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39920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1365</Words>
  <Application>Microsoft Office PowerPoint</Application>
  <PresentationFormat>Grand écran</PresentationFormat>
  <Paragraphs>258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RICHARD PLANTE</cp:lastModifiedBy>
  <cp:revision>9</cp:revision>
  <dcterms:created xsi:type="dcterms:W3CDTF">2026-08-08T14:40:27Z</dcterms:created>
  <dcterms:modified xsi:type="dcterms:W3CDTF">2026-08-09T15:56:49Z</dcterms:modified>
</cp:coreProperties>
</file>